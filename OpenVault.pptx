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"/>
          <p:cNvSpPr>
            <a:spLocks noGrp="1"/>
          </p:cNvSpPr>
          <p:nvPr/>
        </p:nvSpPr>
        <p:spPr>
          <a:xfrm>
            <a:off x="731520" y="822960"/>
            <a:ext cx="685800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F766E"/>
                </a:solidFill>
                <a:latin typeface="Calibri"/>
              </a:rPr>
              <a:t xml:space="preserve">FINAL YEAR PROJECT</a:t>
            </a:r>
          </a:p>
        </p:txBody>
      </p:sp>
      <p:sp>
        <p:nvSpPr>
          <p:cNvPr id="102" name="tb"/>
          <p:cNvSpPr>
            <a:spLocks noGrp="1"/>
          </p:cNvSpPr>
          <p:nvPr/>
        </p:nvSpPr>
        <p:spPr>
          <a:xfrm>
            <a:off x="731520" y="1371600"/>
            <a:ext cx="6858000" cy="118872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1E293B"/>
                </a:solidFill>
                <a:latin typeface="Cambria"/>
              </a:rPr>
              <a:t xml:space="preserve">OpenVault</a:t>
            </a:r>
          </a:p>
        </p:txBody>
      </p:sp>
      <p:sp>
        <p:nvSpPr>
          <p:cNvPr id="103" name="tb"/>
          <p:cNvSpPr>
            <a:spLocks noGrp="1"/>
          </p:cNvSpPr>
          <p:nvPr/>
        </p:nvSpPr>
        <p:spPr>
          <a:xfrm>
            <a:off x="731520" y="2651760"/>
            <a:ext cx="6583680" cy="9144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64748B"/>
                </a:solidFill>
                <a:latin typeface="Calibri"/>
              </a:rPr>
              <a:t xml:space="preserve">Secure AI Assistant for Company Documents</a:t>
            </a:r>
          </a:p>
        </p:txBody>
      </p:sp>
      <p:sp>
        <p:nvSpPr>
          <p:cNvPr id="104" name="tb"/>
          <p:cNvSpPr>
            <a:spLocks noGrp="1"/>
          </p:cNvSpPr>
          <p:nvPr/>
        </p:nvSpPr>
        <p:spPr>
          <a:xfrm>
            <a:off x="731520" y="3749040"/>
            <a:ext cx="6583680" cy="9144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0" i="0" dirty="0">
                <a:solidFill>
                  <a:srgbClr val="64748B"/>
                </a:solidFill>
                <a:latin typeface="Calibri"/>
              </a:rPr>
              <a:t xml:space="preserve">Ask questions, get cited answers from your private documents.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F766E"/>
                </a:solidFill>
                <a:latin typeface="Calibri"/>
              </a:rPr>
              <a:t xml:space="preserve">Your data stays on your server.</a:t>
            </a:r>
          </a:p>
        </p:txBody>
      </p:sp>
      <p:sp>
        <p:nvSpPr>
          <p:cNvPr id="105" name="tb"/>
          <p:cNvSpPr>
            <a:spLocks noGrp="1"/>
          </p:cNvSpPr>
          <p:nvPr/>
        </p:nvSpPr>
        <p:spPr>
          <a:xfrm>
            <a:off x="731520" y="4937760"/>
            <a:ext cx="6583680" cy="164592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300" b="0" i="0" dirty="0">
                <a:solidFill>
                  <a:srgbClr val="1E293B"/>
                </a:solidFill>
                <a:latin typeface="Calibri"/>
              </a:rPr>
              <a:t xml:space="preserve">Saad Waseem B-28488 (Leader)</a:t>
            </a:r>
          </a:p>
          <a:p>
            <a:pPr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1300" b="0" i="0" dirty="0">
                <a:solidFill>
                  <a:srgbClr val="1E293B"/>
                </a:solidFill>
                <a:latin typeface="Calibri"/>
              </a:rPr>
              <a:t xml:space="preserve">M Akmal B-28723  |  M Talha Khalid B-28390</a:t>
            </a:r>
          </a:p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300" b="1" i="0" dirty="0">
                <a:solidFill>
                  <a:srgbClr val="64748B"/>
                </a:solidFill>
                <a:latin typeface="Calibri"/>
              </a:rPr>
              <a:t xml:space="preserve">Supervisor: Miss Iqra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64748B"/>
                </a:solidFill>
                <a:latin typeface="Calibri"/>
              </a:rPr>
              <a:t xml:space="preserve">University of South Asia | Department of Computer Science</a:t>
            </a:r>
          </a:p>
        </p:txBody>
      </p:sp>
      <p:sp>
        <p:nvSpPr>
          <p:cNvPr id="106" name="sh"/>
          <p:cNvSpPr/>
          <p:nvPr/>
        </p:nvSpPr>
        <p:spPr>
          <a:xfrm>
            <a:off x="7772400" y="731520"/>
            <a:ext cx="3657600" cy="5394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 xml:space="preserve">Private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 xml:space="preserve">AI Knowledge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 xml:space="preserve">Assistant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CCFBF1"/>
                </a:solidFill>
                <a:latin typeface="Calibri"/>
              </a:rPr>
              <a:t xml:space="preserve">For Organizations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The Problem</a:t>
            </a:r>
          </a:p>
        </p:txBody>
      </p:sp>
      <p:sp>
        <p:nvSpPr>
          <p:cNvPr id="102" name="tb"/>
          <p:cNvSpPr>
            <a:spLocks noGrp="1"/>
          </p:cNvSpPr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4748B"/>
                </a:solidFill>
                <a:latin typeface="Calibri"/>
              </a:rPr>
              <a:t xml:space="preserve">Companies have valuable knowledge locked inside documents that employees struggle to access.</a:t>
            </a:r>
          </a:p>
        </p:txBody>
      </p:sp>
      <p:sp>
        <p:nvSpPr>
          <p:cNvPr id="103" name="sh"/>
          <p:cNvSpPr/>
          <p:nvPr/>
        </p:nvSpPr>
        <p:spPr>
          <a:xfrm>
            <a:off x="731520" y="182880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000" b="1" i="0" dirty="0">
                <a:solidFill>
                  <a:srgbClr val="1E293B"/>
                </a:solidFill>
                <a:latin typeface="Calibri"/>
              </a:rPr>
              <a:t xml:space="preserve">Time Wasted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Employees spend hours searching through long PDFs to find one answer.</a:t>
            </a:r>
          </a:p>
        </p:txBody>
      </p:sp>
      <p:sp>
        <p:nvSpPr>
          <p:cNvPr id="104" name="sh"/>
          <p:cNvSpPr/>
          <p:nvPr/>
        </p:nvSpPr>
        <p:spPr>
          <a:xfrm>
            <a:off x="6309360" y="182880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000" b="1" i="0" dirty="0">
                <a:solidFill>
                  <a:srgbClr val="1E293B"/>
                </a:solidFill>
                <a:latin typeface="Calibri"/>
              </a:rPr>
              <a:t xml:space="preserve">Privacy Risk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Public AI tools like ChatGPT require uploading data to external servers.</a:t>
            </a:r>
          </a:p>
        </p:txBody>
      </p:sp>
      <p:sp>
        <p:nvSpPr>
          <p:cNvPr id="105" name="sh"/>
          <p:cNvSpPr/>
          <p:nvPr/>
        </p:nvSpPr>
        <p:spPr>
          <a:xfrm>
            <a:off x="731520" y="402336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000" b="1" i="0" dirty="0">
                <a:solidFill>
                  <a:srgbClr val="1E293B"/>
                </a:solidFill>
                <a:latin typeface="Calibri"/>
              </a:rPr>
              <a:t xml:space="preserve">No Organization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Information is scattered across policies, manuals, reports, and HR docs.</a:t>
            </a:r>
          </a:p>
        </p:txBody>
      </p:sp>
      <p:sp>
        <p:nvSpPr>
          <p:cNvPr id="106" name="sh"/>
          <p:cNvSpPr/>
          <p:nvPr/>
        </p:nvSpPr>
        <p:spPr>
          <a:xfrm>
            <a:off x="6309360" y="402336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2000" b="1" i="0" dirty="0">
                <a:solidFill>
                  <a:srgbClr val="1E293B"/>
                </a:solidFill>
                <a:latin typeface="Calibri"/>
              </a:rPr>
              <a:t xml:space="preserve">Low Visibility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Companies with private work have no way to share selected documents publicly.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Our Solution: OpenVault</a:t>
            </a:r>
          </a:p>
        </p:txBody>
      </p:sp>
      <p:sp>
        <p:nvSpPr>
          <p:cNvPr id="302" name="sh"/>
          <p:cNvSpPr/>
          <p:nvPr/>
        </p:nvSpPr>
        <p:spPr>
          <a:xfrm>
            <a:off x="731520" y="12801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</a:rPr>
              <a:t xml:space="preserve">A secure platform where companies privately upload documents and employees</a:t>
            </a:r>
          </a:p>
          <a:p>
            <a:pPr algn="ctr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</a:rPr>
              <a:t xml:space="preserve">ask questions and get accurate, cited answers using AI that runs on our server.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CCFBF1"/>
                </a:solidFill>
                <a:latin typeface="Calibri"/>
              </a:rPr>
              <a:t xml:space="preserve">Company data never leaves our control.</a:t>
            </a:r>
          </a:p>
        </p:txBody>
      </p:sp>
      <p:sp>
        <p:nvSpPr>
          <p:cNvPr id="303" name="sh"/>
          <p:cNvSpPr/>
          <p:nvPr/>
        </p:nvSpPr>
        <p:spPr>
          <a:xfrm>
            <a:off x="731520" y="2926080"/>
            <a:ext cx="2560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0F766E"/>
                </a:solidFill>
                <a:latin typeface="Calibri"/>
              </a:rPr>
              <a:t xml:space="preserve">1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Private AI Q&amp;A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64748B"/>
                </a:solidFill>
                <a:latin typeface="Calibri"/>
              </a:rPr>
              <a:t xml:space="preserve">Instant answers from your documents</a:t>
            </a:r>
          </a:p>
        </p:txBody>
      </p:sp>
      <p:sp>
        <p:nvSpPr>
          <p:cNvPr id="304" name="sh"/>
          <p:cNvSpPr/>
          <p:nvPr/>
        </p:nvSpPr>
        <p:spPr>
          <a:xfrm>
            <a:off x="3474720" y="2926080"/>
            <a:ext cx="2560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0F766E"/>
                </a:solidFill>
                <a:latin typeface="Calibri"/>
              </a:rPr>
              <a:t xml:space="preserve">2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Data Stays Secure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64748B"/>
                </a:solidFill>
                <a:latin typeface="Calibri"/>
              </a:rPr>
              <a:t xml:space="preserve">Self-hosted AI, never shared</a:t>
            </a:r>
          </a:p>
        </p:txBody>
      </p:sp>
      <p:sp>
        <p:nvSpPr>
          <p:cNvPr id="305" name="sh"/>
          <p:cNvSpPr/>
          <p:nvPr/>
        </p:nvSpPr>
        <p:spPr>
          <a:xfrm>
            <a:off x="6217920" y="2926080"/>
            <a:ext cx="2560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0F766E"/>
                </a:solidFill>
                <a:latin typeface="Calibri"/>
              </a:rPr>
              <a:t xml:space="preserve">3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Per-Company Isolation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64748B"/>
                </a:solidFill>
                <a:latin typeface="Calibri"/>
              </a:rPr>
              <a:t xml:space="preserve">Complete data separation</a:t>
            </a:r>
          </a:p>
        </p:txBody>
      </p:sp>
      <p:sp>
        <p:nvSpPr>
          <p:cNvPr id="306" name="sh"/>
          <p:cNvSpPr/>
          <p:nvPr/>
        </p:nvSpPr>
        <p:spPr>
          <a:xfrm>
            <a:off x="8961120" y="2926080"/>
            <a:ext cx="2560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800" b="1" i="0" dirty="0">
                <a:solidFill>
                  <a:srgbClr val="0F766E"/>
                </a:solidFill>
                <a:latin typeface="Calibri"/>
              </a:rPr>
              <a:t xml:space="preserve">4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Public Library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64748B"/>
                </a:solidFill>
                <a:latin typeface="Calibri"/>
              </a:rPr>
              <a:t xml:space="preserve">Open-source info on various topics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How It Works</a:t>
            </a:r>
          </a:p>
        </p:txBody>
      </p:sp>
      <p:sp>
        <p:nvSpPr>
          <p:cNvPr id="502" name="sh"/>
          <p:cNvSpPr/>
          <p:nvPr/>
        </p:nvSpPr>
        <p:spPr>
          <a:xfrm>
            <a:off x="1234440" y="1280160"/>
            <a:ext cx="640080" cy="640080"/>
          </a:xfrm>
          <a:prstGeom prst="ellipse">
            <a:avLst/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 xml:space="preserve">1</a:t>
            </a:r>
          </a:p>
        </p:txBody>
      </p:sp>
      <p:sp>
        <p:nvSpPr>
          <p:cNvPr id="503" name="tb"/>
          <p:cNvSpPr>
            <a:spLocks noGrp="1"/>
          </p:cNvSpPr>
          <p:nvPr/>
        </p:nvSpPr>
        <p:spPr>
          <a:xfrm>
            <a:off x="548640" y="2103120"/>
            <a:ext cx="20116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Upload</a:t>
            </a:r>
          </a:p>
        </p:txBody>
      </p:sp>
      <p:sp>
        <p:nvSpPr>
          <p:cNvPr id="504" name="tb"/>
          <p:cNvSpPr>
            <a:spLocks noGrp="1"/>
          </p:cNvSpPr>
          <p:nvPr/>
        </p:nvSpPr>
        <p:spPr>
          <a:xfrm>
            <a:off x="548640" y="2514600"/>
            <a:ext cx="2011680" cy="64008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Admin uploads docs</a:t>
            </a:r>
          </a:p>
        </p:txBody>
      </p:sp>
      <p:sp>
        <p:nvSpPr>
          <p:cNvPr id="505" name="sh"/>
          <p:cNvSpPr/>
          <p:nvPr/>
        </p:nvSpPr>
        <p:spPr>
          <a:xfrm>
            <a:off x="3429000" y="1280160"/>
            <a:ext cx="640080" cy="640080"/>
          </a:xfrm>
          <a:prstGeom prst="ellipse">
            <a:avLst/>
          </a:prstGeom>
          <a:solidFill>
            <a:srgbClr val="14B8A6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 xml:space="preserve">2</a:t>
            </a:r>
          </a:p>
        </p:txBody>
      </p:sp>
      <p:sp>
        <p:nvSpPr>
          <p:cNvPr id="506" name="tb"/>
          <p:cNvSpPr>
            <a:spLocks noGrp="1"/>
          </p:cNvSpPr>
          <p:nvPr/>
        </p:nvSpPr>
        <p:spPr>
          <a:xfrm>
            <a:off x="2743200" y="2103120"/>
            <a:ext cx="20116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Process</a:t>
            </a:r>
          </a:p>
        </p:txBody>
      </p:sp>
      <p:sp>
        <p:nvSpPr>
          <p:cNvPr id="507" name="tb"/>
          <p:cNvSpPr>
            <a:spLocks noGrp="1"/>
          </p:cNvSpPr>
          <p:nvPr/>
        </p:nvSpPr>
        <p:spPr>
          <a:xfrm>
            <a:off x="2743200" y="2514600"/>
            <a:ext cx="2011680" cy="64008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Text extracted, indexed</a:t>
            </a:r>
          </a:p>
        </p:txBody>
      </p:sp>
      <p:sp>
        <p:nvSpPr>
          <p:cNvPr id="508" name="sh"/>
          <p:cNvSpPr/>
          <p:nvPr/>
        </p:nvSpPr>
        <p:spPr>
          <a:xfrm>
            <a:off x="5623560" y="1280160"/>
            <a:ext cx="640080" cy="640080"/>
          </a:xfrm>
          <a:prstGeom prst="ellipse">
            <a:avLst/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 xml:space="preserve">3</a:t>
            </a:r>
          </a:p>
        </p:txBody>
      </p:sp>
      <p:sp>
        <p:nvSpPr>
          <p:cNvPr id="509" name="tb"/>
          <p:cNvSpPr>
            <a:spLocks noGrp="1"/>
          </p:cNvSpPr>
          <p:nvPr/>
        </p:nvSpPr>
        <p:spPr>
          <a:xfrm>
            <a:off x="4937760" y="2103120"/>
            <a:ext cx="20116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Ask</a:t>
            </a:r>
          </a:p>
        </p:txBody>
      </p:sp>
      <p:sp>
        <p:nvSpPr>
          <p:cNvPr id="510" name="tb"/>
          <p:cNvSpPr>
            <a:spLocks noGrp="1"/>
          </p:cNvSpPr>
          <p:nvPr/>
        </p:nvSpPr>
        <p:spPr>
          <a:xfrm>
            <a:off x="4937760" y="2514600"/>
            <a:ext cx="2011680" cy="64008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Employee asks question</a:t>
            </a:r>
          </a:p>
        </p:txBody>
      </p:sp>
      <p:sp>
        <p:nvSpPr>
          <p:cNvPr id="511" name="sh"/>
          <p:cNvSpPr/>
          <p:nvPr/>
        </p:nvSpPr>
        <p:spPr>
          <a:xfrm>
            <a:off x="7818120" y="1280160"/>
            <a:ext cx="640080" cy="640080"/>
          </a:xfrm>
          <a:prstGeom prst="ellipse">
            <a:avLst/>
          </a:prstGeom>
          <a:solidFill>
            <a:srgbClr val="14B8A6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 xml:space="preserve">4</a:t>
            </a:r>
          </a:p>
        </p:txBody>
      </p:sp>
      <p:sp>
        <p:nvSpPr>
          <p:cNvPr id="512" name="tb"/>
          <p:cNvSpPr>
            <a:spLocks noGrp="1"/>
          </p:cNvSpPr>
          <p:nvPr/>
        </p:nvSpPr>
        <p:spPr>
          <a:xfrm>
            <a:off x="7132320" y="2103120"/>
            <a:ext cx="20116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Retrieve</a:t>
            </a:r>
          </a:p>
        </p:txBody>
      </p:sp>
      <p:sp>
        <p:nvSpPr>
          <p:cNvPr id="513" name="tb"/>
          <p:cNvSpPr>
            <a:spLocks noGrp="1"/>
          </p:cNvSpPr>
          <p:nvPr/>
        </p:nvSpPr>
        <p:spPr>
          <a:xfrm>
            <a:off x="7132320" y="2514600"/>
            <a:ext cx="2011680" cy="64008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AI finds relevant text</a:t>
            </a:r>
          </a:p>
        </p:txBody>
      </p:sp>
      <p:sp>
        <p:nvSpPr>
          <p:cNvPr id="514" name="sh"/>
          <p:cNvSpPr/>
          <p:nvPr/>
        </p:nvSpPr>
        <p:spPr>
          <a:xfrm>
            <a:off x="10012680" y="1280160"/>
            <a:ext cx="640080" cy="640080"/>
          </a:xfrm>
          <a:prstGeom prst="ellipse">
            <a:avLst/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</a:rPr>
              <a:t xml:space="preserve">5</a:t>
            </a:r>
          </a:p>
        </p:txBody>
      </p:sp>
      <p:sp>
        <p:nvSpPr>
          <p:cNvPr id="515" name="tb"/>
          <p:cNvSpPr>
            <a:spLocks noGrp="1"/>
          </p:cNvSpPr>
          <p:nvPr/>
        </p:nvSpPr>
        <p:spPr>
          <a:xfrm>
            <a:off x="9326880" y="2103120"/>
            <a:ext cx="20116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Answer</a:t>
            </a:r>
          </a:p>
        </p:txBody>
      </p:sp>
      <p:sp>
        <p:nvSpPr>
          <p:cNvPr id="516" name="tb"/>
          <p:cNvSpPr>
            <a:spLocks noGrp="1"/>
          </p:cNvSpPr>
          <p:nvPr/>
        </p:nvSpPr>
        <p:spPr>
          <a:xfrm>
            <a:off x="9326880" y="2514600"/>
            <a:ext cx="2011680" cy="64008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Cited response given</a:t>
            </a:r>
          </a:p>
        </p:txBody>
      </p:sp>
      <p:sp>
        <p:nvSpPr>
          <p:cNvPr id="517" name="sh"/>
          <p:cNvSpPr/>
          <p:nvPr/>
        </p:nvSpPr>
        <p:spPr>
          <a:xfrm>
            <a:off x="731520" y="3383280"/>
            <a:ext cx="10698480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22860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0F766E"/>
                </a:solidFill>
                <a:latin typeface="Calibri"/>
              </a:rPr>
              <a:t xml:space="preserve">RAG: Retrieval-Augmented Generation</a:t>
            </a:r>
          </a:p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 xml:space="preserve">1. RETRIEVE: Search company documents for relevant text chunks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  <a:buNone/>
            </a:pP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 xml:space="preserve">2. AUGMENT: Add retrieved text to AI prompt as source material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1E293B"/>
                </a:solidFill>
                <a:latin typeface="Calibri"/>
              </a:rPr>
              <a:t xml:space="preserve">3. GENERATE: AI writes answer based only on that material, with citations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0F766E"/>
                </a:solidFill>
                <a:latin typeface="Calibri"/>
              </a:rPr>
              <a:t xml:space="preserve">Result: Accurate answers from YOUR documents, not the internet.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OKF: Open Knowledge Format</a:t>
            </a:r>
          </a:p>
        </p:txBody>
      </p:sp>
      <p:sp>
        <p:nvSpPr>
          <p:cNvPr id="702" name="tb"/>
          <p:cNvSpPr>
            <a:spLocks noGrp="1"/>
          </p:cNvSpPr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4748B"/>
                </a:solidFill>
                <a:latin typeface="Calibri"/>
              </a:rPr>
              <a:t xml:space="preserve">Curated knowledge for accurate answers on tricky questions.</a:t>
            </a:r>
          </a:p>
        </p:txBody>
      </p:sp>
      <p:sp>
        <p:nvSpPr>
          <p:cNvPr id="703" name="sh"/>
          <p:cNvSpPr/>
          <p:nvPr/>
        </p:nvSpPr>
        <p:spPr>
          <a:xfrm>
            <a:off x="731520" y="1691640"/>
            <a:ext cx="521208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0F766E"/>
                </a:solidFill>
                <a:latin typeface="Calibri"/>
              </a:rPr>
              <a:t xml:space="preserve">What is OKF?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An open, plain-text standard for storing curated knowledge, context, and business rules.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Admins write exceptions and special logic as simple text files that the AI reads alongside documents.</a:t>
            </a:r>
          </a:p>
        </p:txBody>
      </p:sp>
      <p:sp>
        <p:nvSpPr>
          <p:cNvPr id="704" name="sh"/>
          <p:cNvSpPr/>
          <p:nvPr/>
        </p:nvSpPr>
        <p:spPr>
          <a:xfrm>
            <a:off x="6126480" y="169164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18288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0F766E"/>
                </a:solidFill>
                <a:latin typeface="Calibri"/>
              </a:rPr>
              <a:t xml:space="preserve">Why We Use It</a:t>
            </a:r>
          </a:p>
          <a:p>
            <a:pPr algn="l">
              <a:lnSpc>
                <a:spcPct val="125000"/>
              </a:lnSpc>
              <a:spcAft>
                <a:spcPts val="15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Raw documents do not always state exceptions clearly.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Example: Policy says "leave = 20 days" but interns get 10. OKF captures this rule so AI answers correctly.</a:t>
            </a:r>
          </a:p>
        </p:txBody>
      </p:sp>
      <p:sp>
        <p:nvSpPr>
          <p:cNvPr id="705" name="sh"/>
          <p:cNvSpPr/>
          <p:nvPr/>
        </p:nvSpPr>
        <p:spPr>
          <a:xfrm>
            <a:off x="731520" y="4160520"/>
            <a:ext cx="10698480" cy="1828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22860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CCFBF1"/>
                </a:solidFill>
                <a:latin typeface="Calibri"/>
              </a:rPr>
              <a:t xml:space="preserve">How OpenVault Uses OKF</a:t>
            </a:r>
          </a:p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 xml:space="preserve">1. Admin creates OKF notes for exceptions, rules, and context</a:t>
            </a:r>
          </a:p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 xml:space="preserve">2. When employee asks a question, AI reads OKF notes alongside document chunks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 xml:space="preserve">3. AI gives accurate answer even for edge cases that documents do not explicitly cover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Security and Privacy</a:t>
            </a:r>
          </a:p>
        </p:txBody>
      </p:sp>
      <p:sp>
        <p:nvSpPr>
          <p:cNvPr id="902" name="tb"/>
          <p:cNvSpPr>
            <a:spLocks noGrp="1"/>
          </p:cNvSpPr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64748B"/>
                </a:solidFill>
                <a:latin typeface="Calibri"/>
              </a:rPr>
              <a:t xml:space="preserve">Enterprise-grade security is the core of OpenVault, not an afterthought.</a:t>
            </a:r>
          </a:p>
        </p:txBody>
      </p:sp>
      <p:sp>
        <p:nvSpPr>
          <p:cNvPr id="903" name="sh"/>
          <p:cNvSpPr/>
          <p:nvPr/>
        </p:nvSpPr>
        <p:spPr>
          <a:xfrm>
            <a:off x="731520" y="169164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500" b="1" i="0" dirty="0">
                <a:solidFill>
                  <a:srgbClr val="0F766E"/>
                </a:solidFill>
                <a:latin typeface="Calibri"/>
              </a:rPr>
              <a:t xml:space="preserve">Multi-Tenant Isolation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Each company's data is completely walled off. Searches cannot return another company's data.</a:t>
            </a:r>
          </a:p>
        </p:txBody>
      </p:sp>
      <p:sp>
        <p:nvSpPr>
          <p:cNvPr id="904" name="sh"/>
          <p:cNvSpPr/>
          <p:nvPr/>
        </p:nvSpPr>
        <p:spPr>
          <a:xfrm>
            <a:off x="4389120" y="169164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500" b="1" i="0" dirty="0">
                <a:solidFill>
                  <a:srgbClr val="0F766E"/>
                </a:solidFill>
                <a:latin typeface="Calibri"/>
              </a:rPr>
              <a:t xml:space="preserve">Encryption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All data encrypted in transit (HTTPS) and at rest. Separate encryption keys per company.</a:t>
            </a:r>
          </a:p>
        </p:txBody>
      </p:sp>
      <p:sp>
        <p:nvSpPr>
          <p:cNvPr id="905" name="sh"/>
          <p:cNvSpPr/>
          <p:nvPr/>
        </p:nvSpPr>
        <p:spPr>
          <a:xfrm>
            <a:off x="8046720" y="169164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500" b="1" i="0" dirty="0">
                <a:solidFill>
                  <a:srgbClr val="0F766E"/>
                </a:solidFill>
                <a:latin typeface="Calibri"/>
              </a:rPr>
              <a:t xml:space="preserve">Self-Hosted AI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The AI model runs on our server. Documents are never sent to external AI providers.</a:t>
            </a:r>
          </a:p>
        </p:txBody>
      </p:sp>
      <p:sp>
        <p:nvSpPr>
          <p:cNvPr id="906" name="sh"/>
          <p:cNvSpPr/>
          <p:nvPr/>
        </p:nvSpPr>
        <p:spPr>
          <a:xfrm>
            <a:off x="731520" y="397764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500" b="1" i="0" dirty="0">
                <a:solidFill>
                  <a:srgbClr val="0F766E"/>
                </a:solidFill>
                <a:latin typeface="Calibri"/>
              </a:rPr>
              <a:t xml:space="preserve">Audit Logging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Every question and document access is logged. Full compliance trail.</a:t>
            </a:r>
          </a:p>
        </p:txBody>
      </p:sp>
      <p:sp>
        <p:nvSpPr>
          <p:cNvPr id="907" name="sh"/>
          <p:cNvSpPr/>
          <p:nvPr/>
        </p:nvSpPr>
        <p:spPr>
          <a:xfrm>
            <a:off x="4389120" y="397764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500" b="1" i="0" dirty="0">
                <a:solidFill>
                  <a:srgbClr val="0F766E"/>
                </a:solidFill>
                <a:latin typeface="Calibri"/>
              </a:rPr>
              <a:t xml:space="preserve">JWT Authentication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Secure token-based auth using Django and JWT. Role-based access control.</a:t>
            </a:r>
          </a:p>
        </p:txBody>
      </p:sp>
      <p:sp>
        <p:nvSpPr>
          <p:cNvPr id="908" name="sh"/>
          <p:cNvSpPr/>
          <p:nvPr/>
        </p:nvSpPr>
        <p:spPr>
          <a:xfrm>
            <a:off x="8046720" y="397764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137160" rIns="137160" bIns="9144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500" b="1" i="0" dirty="0">
                <a:solidFill>
                  <a:srgbClr val="0F766E"/>
                </a:solidFill>
                <a:latin typeface="Calibri"/>
              </a:rPr>
              <a:t xml:space="preserve">Leak Prevention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 xml:space="preserve">Prompt injection defense. AI locked to current company's context only.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What Makes Us Different</a:t>
            </a:r>
          </a:p>
        </p:txBody>
      </p:sp>
      <p:sp>
        <p:nvSpPr>
          <p:cNvPr id="1102" name="tb"/>
          <p:cNvSpPr>
            <a:spLocks noGrp="1"/>
          </p:cNvSpPr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64748B"/>
                </a:solidFill>
                <a:latin typeface="Calibri"/>
              </a:rPr>
              <a:t xml:space="preserve">Compared to similar private knowledge solutions for small/medium businesses.</a:t>
            </a:r>
          </a:p>
        </p:txBody>
      </p:sp>
      <p:sp>
        <p:nvSpPr>
          <p:cNvPr id="1103" name="sh"/>
          <p:cNvSpPr/>
          <p:nvPr/>
        </p:nvSpPr>
        <p:spPr>
          <a:xfrm>
            <a:off x="2560320" y="160020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 xml:space="preserve">OpenVault</a:t>
            </a:r>
          </a:p>
        </p:txBody>
      </p:sp>
      <p:sp>
        <p:nvSpPr>
          <p:cNvPr id="1104" name="sh"/>
          <p:cNvSpPr/>
          <p:nvPr/>
        </p:nvSpPr>
        <p:spPr>
          <a:xfrm>
            <a:off x="6949440" y="1600200"/>
            <a:ext cx="4206240" cy="548640"/>
          </a:xfrm>
          <a:prstGeom prst="roundRect">
            <a:avLst>
              <a:gd name="adj" fmla="val 8000"/>
            </a:avLst>
          </a:prstGeom>
          <a:solidFill>
            <a:srgbClr val="64748B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</a:rPr>
              <a:t xml:space="preserve">Similar Solutions</a:t>
            </a:r>
          </a:p>
        </p:txBody>
      </p:sp>
      <p:sp>
        <p:nvSpPr>
          <p:cNvPr id="1105" name="tb"/>
          <p:cNvSpPr>
            <a:spLocks noGrp="1"/>
          </p:cNvSpPr>
          <p:nvPr/>
        </p:nvSpPr>
        <p:spPr>
          <a:xfrm>
            <a:off x="731520" y="2286000"/>
            <a:ext cx="1645920" cy="59436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93B"/>
                </a:solidFill>
                <a:latin typeface="Calibri"/>
              </a:rPr>
              <a:t xml:space="preserve">Data Privacy</a:t>
            </a:r>
          </a:p>
        </p:txBody>
      </p:sp>
      <p:sp>
        <p:nvSpPr>
          <p:cNvPr id="1106" name="sh"/>
          <p:cNvSpPr/>
          <p:nvPr/>
        </p:nvSpPr>
        <p:spPr>
          <a:xfrm>
            <a:off x="2560320" y="22860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CCFBF1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0F766E"/>
                </a:solidFill>
                <a:latin typeface="Calibri"/>
              </a:rPr>
              <a:t xml:space="preserve">Self-hosted AI, data on your server</a:t>
            </a:r>
          </a:p>
        </p:txBody>
      </p:sp>
      <p:sp>
        <p:nvSpPr>
          <p:cNvPr id="1107" name="sh"/>
          <p:cNvSpPr/>
          <p:nvPr/>
        </p:nvSpPr>
        <p:spPr>
          <a:xfrm>
            <a:off x="6949440" y="22860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 xml:space="preserve">Often cloud-based, data leaves your control</a:t>
            </a:r>
          </a:p>
        </p:txBody>
      </p:sp>
      <p:sp>
        <p:nvSpPr>
          <p:cNvPr id="1108" name="tb"/>
          <p:cNvSpPr>
            <a:spLocks noGrp="1"/>
          </p:cNvSpPr>
          <p:nvPr/>
        </p:nvSpPr>
        <p:spPr>
          <a:xfrm>
            <a:off x="731520" y="2971800"/>
            <a:ext cx="1645920" cy="59436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93B"/>
                </a:solidFill>
                <a:latin typeface="Calibri"/>
              </a:rPr>
              <a:t xml:space="preserve">Isolation</a:t>
            </a:r>
          </a:p>
        </p:txBody>
      </p:sp>
      <p:sp>
        <p:nvSpPr>
          <p:cNvPr id="1109" name="sh"/>
          <p:cNvSpPr/>
          <p:nvPr/>
        </p:nvSpPr>
        <p:spPr>
          <a:xfrm>
            <a:off x="2560320" y="29718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CCFBF1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0F766E"/>
                </a:solidFill>
                <a:latin typeface="Calibri"/>
              </a:rPr>
              <a:t xml:space="preserve">Strict per-company data separation</a:t>
            </a:r>
          </a:p>
        </p:txBody>
      </p:sp>
      <p:sp>
        <p:nvSpPr>
          <p:cNvPr id="1110" name="sh"/>
          <p:cNvSpPr/>
          <p:nvPr/>
        </p:nvSpPr>
        <p:spPr>
          <a:xfrm>
            <a:off x="6949440" y="29718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 xml:space="preserve">Shared infrastructure, weaker isolation</a:t>
            </a:r>
          </a:p>
        </p:txBody>
      </p:sp>
      <p:sp>
        <p:nvSpPr>
          <p:cNvPr id="1111" name="tb"/>
          <p:cNvSpPr>
            <a:spLocks noGrp="1"/>
          </p:cNvSpPr>
          <p:nvPr/>
        </p:nvSpPr>
        <p:spPr>
          <a:xfrm>
            <a:off x="731520" y="3657600"/>
            <a:ext cx="1645920" cy="59436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93B"/>
                </a:solidFill>
                <a:latin typeface="Calibri"/>
              </a:rPr>
              <a:t xml:space="preserve">AI Answers</a:t>
            </a:r>
          </a:p>
        </p:txBody>
      </p:sp>
      <p:sp>
        <p:nvSpPr>
          <p:cNvPr id="1112" name="sh"/>
          <p:cNvSpPr/>
          <p:nvPr/>
        </p:nvSpPr>
        <p:spPr>
          <a:xfrm>
            <a:off x="2560320" y="36576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CCFBF1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0F766E"/>
                </a:solidFill>
                <a:latin typeface="Calibri"/>
              </a:rPr>
              <a:t xml:space="preserve">Cited answers from your documents</a:t>
            </a:r>
          </a:p>
        </p:txBody>
      </p:sp>
      <p:sp>
        <p:nvSpPr>
          <p:cNvPr id="1113" name="sh"/>
          <p:cNvSpPr/>
          <p:nvPr/>
        </p:nvSpPr>
        <p:spPr>
          <a:xfrm>
            <a:off x="6949440" y="36576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 xml:space="preserve">Basic search or no AI Q&amp;A</a:t>
            </a:r>
          </a:p>
        </p:txBody>
      </p:sp>
      <p:sp>
        <p:nvSpPr>
          <p:cNvPr id="1114" name="tb"/>
          <p:cNvSpPr>
            <a:spLocks noGrp="1"/>
          </p:cNvSpPr>
          <p:nvPr/>
        </p:nvSpPr>
        <p:spPr>
          <a:xfrm>
            <a:off x="731520" y="4343400"/>
            <a:ext cx="1645920" cy="59436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93B"/>
                </a:solidFill>
                <a:latin typeface="Calibri"/>
              </a:rPr>
              <a:t xml:space="preserve">Accuracy</a:t>
            </a:r>
          </a:p>
        </p:txBody>
      </p:sp>
      <p:sp>
        <p:nvSpPr>
          <p:cNvPr id="1115" name="sh"/>
          <p:cNvSpPr/>
          <p:nvPr/>
        </p:nvSpPr>
        <p:spPr>
          <a:xfrm>
            <a:off x="2560320" y="43434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CCFBF1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0F766E"/>
                </a:solidFill>
                <a:latin typeface="Calibri"/>
              </a:rPr>
              <a:t xml:space="preserve">OKF curated knowledge for exceptions</a:t>
            </a:r>
          </a:p>
        </p:txBody>
      </p:sp>
      <p:sp>
        <p:nvSpPr>
          <p:cNvPr id="1116" name="sh"/>
          <p:cNvSpPr/>
          <p:nvPr/>
        </p:nvSpPr>
        <p:spPr>
          <a:xfrm>
            <a:off x="6949440" y="43434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 xml:space="preserve">No support for business rules/exceptions</a:t>
            </a:r>
          </a:p>
        </p:txBody>
      </p:sp>
      <p:sp>
        <p:nvSpPr>
          <p:cNvPr id="1117" name="tb"/>
          <p:cNvSpPr>
            <a:spLocks noGrp="1"/>
          </p:cNvSpPr>
          <p:nvPr/>
        </p:nvSpPr>
        <p:spPr>
          <a:xfrm>
            <a:off x="731520" y="5029200"/>
            <a:ext cx="1645920" cy="59436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93B"/>
                </a:solidFill>
                <a:latin typeface="Calibri"/>
              </a:rPr>
              <a:t xml:space="preserve">Public Portal</a:t>
            </a:r>
          </a:p>
        </p:txBody>
      </p:sp>
      <p:sp>
        <p:nvSpPr>
          <p:cNvPr id="1118" name="sh"/>
          <p:cNvSpPr/>
          <p:nvPr/>
        </p:nvSpPr>
        <p:spPr>
          <a:xfrm>
            <a:off x="2560320" y="50292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CCFBF1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0F766E"/>
                </a:solidFill>
                <a:latin typeface="Calibri"/>
              </a:rPr>
              <a:t xml:space="preserve">Share open-source info publicly</a:t>
            </a:r>
          </a:p>
        </p:txBody>
      </p:sp>
      <p:sp>
        <p:nvSpPr>
          <p:cNvPr id="1119" name="sh"/>
          <p:cNvSpPr/>
          <p:nvPr/>
        </p:nvSpPr>
        <p:spPr>
          <a:xfrm>
            <a:off x="6949440" y="50292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 xml:space="preserve">Private only, no public sharing option</a:t>
            </a:r>
          </a:p>
        </p:txBody>
      </p:sp>
      <p:sp>
        <p:nvSpPr>
          <p:cNvPr id="1120" name="tb"/>
          <p:cNvSpPr>
            <a:spLocks noGrp="1"/>
          </p:cNvSpPr>
          <p:nvPr/>
        </p:nvSpPr>
        <p:spPr>
          <a:xfrm>
            <a:off x="731520" y="5715000"/>
            <a:ext cx="1645920" cy="59436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E293B"/>
                </a:solidFill>
                <a:latin typeface="Calibri"/>
              </a:rPr>
              <a:t xml:space="preserve">Cost</a:t>
            </a:r>
          </a:p>
        </p:txBody>
      </p:sp>
      <p:sp>
        <p:nvSpPr>
          <p:cNvPr id="1121" name="sh"/>
          <p:cNvSpPr/>
          <p:nvPr/>
        </p:nvSpPr>
        <p:spPr>
          <a:xfrm>
            <a:off x="2560320" y="57150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CCFBF1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0F766E"/>
                </a:solidFill>
                <a:latin typeface="Calibri"/>
              </a:rPr>
              <a:t xml:space="preserve">Affordable for small teams</a:t>
            </a:r>
          </a:p>
        </p:txBody>
      </p:sp>
      <p:sp>
        <p:nvSpPr>
          <p:cNvPr id="1122" name="sh"/>
          <p:cNvSpPr/>
          <p:nvPr/>
        </p:nvSpPr>
        <p:spPr>
          <a:xfrm>
            <a:off x="6949440" y="5715000"/>
            <a:ext cx="4206240" cy="594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137160" tIns="91440" rIns="137160" bIns="9144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 xml:space="preserve">Per-seat pricing adds up quickly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Technology Stack</a:t>
            </a:r>
          </a:p>
        </p:txBody>
      </p:sp>
      <p:sp>
        <p:nvSpPr>
          <p:cNvPr id="1302" name="sh"/>
          <p:cNvSpPr/>
          <p:nvPr/>
        </p:nvSpPr>
        <p:spPr>
          <a:xfrm>
            <a:off x="731520" y="13716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FRONTEND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React + Tailwind</a:t>
            </a:r>
          </a:p>
        </p:txBody>
      </p:sp>
      <p:sp>
        <p:nvSpPr>
          <p:cNvPr id="1303" name="sh"/>
          <p:cNvSpPr/>
          <p:nvPr/>
        </p:nvSpPr>
        <p:spPr>
          <a:xfrm>
            <a:off x="3474720" y="13716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BACKEND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Python + Django</a:t>
            </a:r>
          </a:p>
        </p:txBody>
      </p:sp>
      <p:sp>
        <p:nvSpPr>
          <p:cNvPr id="1304" name="sh"/>
          <p:cNvSpPr/>
          <p:nvPr/>
        </p:nvSpPr>
        <p:spPr>
          <a:xfrm>
            <a:off x="6217920" y="13716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AUTH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Django + JWT</a:t>
            </a:r>
          </a:p>
        </p:txBody>
      </p:sp>
      <p:sp>
        <p:nvSpPr>
          <p:cNvPr id="1305" name="sh"/>
          <p:cNvSpPr/>
          <p:nvPr/>
        </p:nvSpPr>
        <p:spPr>
          <a:xfrm>
            <a:off x="8961120" y="137160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VECTOR DB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pgvector / PostgreSQL</a:t>
            </a:r>
          </a:p>
        </p:txBody>
      </p:sp>
      <p:sp>
        <p:nvSpPr>
          <p:cNvPr id="1306" name="sh"/>
          <p:cNvSpPr/>
          <p:nvPr/>
        </p:nvSpPr>
        <p:spPr>
          <a:xfrm>
            <a:off x="731520" y="374904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AI MODEL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Ollama (self-hosted)</a:t>
            </a:r>
          </a:p>
        </p:txBody>
      </p:sp>
      <p:sp>
        <p:nvSpPr>
          <p:cNvPr id="1307" name="sh"/>
          <p:cNvSpPr/>
          <p:nvPr/>
        </p:nvSpPr>
        <p:spPr>
          <a:xfrm>
            <a:off x="3474720" y="374904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STORAGE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Amazon S3</a:t>
            </a:r>
          </a:p>
        </p:txBody>
      </p:sp>
      <p:sp>
        <p:nvSpPr>
          <p:cNvPr id="1308" name="sh"/>
          <p:cNvSpPr/>
          <p:nvPr/>
        </p:nvSpPr>
        <p:spPr>
          <a:xfrm>
            <a:off x="6217920" y="374904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SERVER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AWS EC2 (GPU/CPU)</a:t>
            </a:r>
          </a:p>
        </p:txBody>
      </p:sp>
      <p:sp>
        <p:nvSpPr>
          <p:cNvPr id="1309" name="sh"/>
          <p:cNvSpPr/>
          <p:nvPr/>
        </p:nvSpPr>
        <p:spPr>
          <a:xfrm>
            <a:off x="8961120" y="3749040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0F766E"/>
                </a:solidFill>
                <a:latin typeface="Calibri"/>
              </a:rPr>
              <a:t xml:space="preserve">CI/CD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93B"/>
                </a:solidFill>
                <a:latin typeface="Calibri"/>
              </a:rPr>
              <a:t xml:space="preserve">GitHub Actions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tb"/>
          <p:cNvSpPr>
            <a:spLocks noGrp="1"/>
          </p:cNvSpPr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93B"/>
                </a:solidFill>
                <a:latin typeface="Cambria"/>
              </a:rPr>
              <a:t xml:space="preserve">Expected Outcomes</a:t>
            </a:r>
          </a:p>
        </p:txBody>
      </p:sp>
      <p:sp>
        <p:nvSpPr>
          <p:cNvPr id="1502" name="sh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14B8A6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 xml:space="preserve">1</a:t>
            </a:r>
          </a:p>
        </p:txBody>
      </p:sp>
      <p:sp>
        <p:nvSpPr>
          <p:cNvPr id="1503" name="tb"/>
          <p:cNvSpPr>
            <a:spLocks noGrp="1"/>
          </p:cNvSpPr>
          <p:nvPr/>
        </p:nvSpPr>
        <p:spPr>
          <a:xfrm>
            <a:off x="1371600" y="1371600"/>
            <a:ext cx="10058400" cy="64008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E293B"/>
                </a:solidFill>
                <a:latin typeface="Calibri"/>
              </a:rPr>
              <a:t xml:space="preserve">Working web platform for secure document upload and AI-powered Q&amp;A</a:t>
            </a:r>
          </a:p>
        </p:txBody>
      </p:sp>
      <p:sp>
        <p:nvSpPr>
          <p:cNvPr id="1504" name="sh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 xml:space="preserve">2</a:t>
            </a:r>
          </a:p>
        </p:txBody>
      </p:sp>
      <p:sp>
        <p:nvSpPr>
          <p:cNvPr id="1505" name="tb"/>
          <p:cNvSpPr>
            <a:spLocks noGrp="1"/>
          </p:cNvSpPr>
          <p:nvPr/>
        </p:nvSpPr>
        <p:spPr>
          <a:xfrm>
            <a:off x="1371600" y="2194560"/>
            <a:ext cx="10058400" cy="64008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E293B"/>
                </a:solidFill>
                <a:latin typeface="Calibri"/>
              </a:rPr>
              <a:t xml:space="preserve">Multi-tenant architecture with per-company data isolation</a:t>
            </a:r>
          </a:p>
        </p:txBody>
      </p:sp>
      <p:sp>
        <p:nvSpPr>
          <p:cNvPr id="1506" name="sh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14B8A6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 xml:space="preserve">3</a:t>
            </a:r>
          </a:p>
        </p:txBody>
      </p:sp>
      <p:sp>
        <p:nvSpPr>
          <p:cNvPr id="1507" name="tb"/>
          <p:cNvSpPr>
            <a:spLocks noGrp="1"/>
          </p:cNvSpPr>
          <p:nvPr/>
        </p:nvSpPr>
        <p:spPr>
          <a:xfrm>
            <a:off x="1371600" y="3017520"/>
            <a:ext cx="10058400" cy="64008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E293B"/>
                </a:solidFill>
                <a:latin typeface="Calibri"/>
              </a:rPr>
              <a:t xml:space="preserve">RAG pipeline delivering cited answers from uploaded documents</a:t>
            </a:r>
          </a:p>
        </p:txBody>
      </p:sp>
      <p:sp>
        <p:nvSpPr>
          <p:cNvPr id="1508" name="sh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 xml:space="preserve">4</a:t>
            </a:r>
          </a:p>
        </p:txBody>
      </p:sp>
      <p:sp>
        <p:nvSpPr>
          <p:cNvPr id="1509" name="tb"/>
          <p:cNvSpPr>
            <a:spLocks noGrp="1"/>
          </p:cNvSpPr>
          <p:nvPr/>
        </p:nvSpPr>
        <p:spPr>
          <a:xfrm>
            <a:off x="1371600" y="3840480"/>
            <a:ext cx="10058400" cy="64008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E293B"/>
                </a:solidFill>
                <a:latin typeface="Calibri"/>
              </a:rPr>
              <a:t xml:space="preserve">OKF support for curated knowledge and exception handling</a:t>
            </a:r>
          </a:p>
        </p:txBody>
      </p:sp>
      <p:sp>
        <p:nvSpPr>
          <p:cNvPr id="1510" name="sh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14B8A6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 xml:space="preserve">5</a:t>
            </a:r>
          </a:p>
        </p:txBody>
      </p:sp>
      <p:sp>
        <p:nvSpPr>
          <p:cNvPr id="1511" name="tb"/>
          <p:cNvSpPr>
            <a:spLocks noGrp="1"/>
          </p:cNvSpPr>
          <p:nvPr/>
        </p:nvSpPr>
        <p:spPr>
          <a:xfrm>
            <a:off x="1371600" y="4663440"/>
            <a:ext cx="10058400" cy="64008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E293B"/>
                </a:solidFill>
                <a:latin typeface="Calibri"/>
              </a:rPr>
              <a:t xml:space="preserve">Public library with open-source info on various topics and genres</a:t>
            </a:r>
          </a:p>
        </p:txBody>
      </p:sp>
      <p:sp>
        <p:nvSpPr>
          <p:cNvPr id="1512" name="sh"/>
          <p:cNvSpPr/>
          <p:nvPr/>
        </p:nvSpPr>
        <p:spPr>
          <a:xfrm>
            <a:off x="731520" y="5623560"/>
            <a:ext cx="365760" cy="365760"/>
          </a:xfrm>
          <a:prstGeom prst="ellipse">
            <a:avLst/>
          </a:prstGeom>
          <a:solidFill>
            <a:srgbClr val="0F766E"/>
          </a:solidFill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 xml:space="preserve">6</a:t>
            </a:r>
          </a:p>
        </p:txBody>
      </p:sp>
      <p:sp>
        <p:nvSpPr>
          <p:cNvPr id="1513" name="tb"/>
          <p:cNvSpPr>
            <a:spLocks noGrp="1"/>
          </p:cNvSpPr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</p:spPr>
        <p:txBody>
          <a:bodyPr wrap="square" lIns="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1E293B"/>
                </a:solidFill>
                <a:latin typeface="Calibri"/>
              </a:rPr>
              <a:t xml:space="preserve">Deployed on AWS with Docker, ready for production use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sh"/>
          <p:cNvSpPr/>
          <p:nvPr/>
        </p:nvSpPr>
        <p:spPr>
          <a:xfrm>
            <a:off x="2286000" y="1463040"/>
            <a:ext cx="7589520" cy="40233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effectLst>
            <a:outerShdw blurRad="76200" dist="38100" dir="5400000" rotWithShape="0">
              <a:srgbClr val="000000">
                <a:alpha val="15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4800" b="1" i="0" dirty="0">
                <a:solidFill>
                  <a:srgbClr val="FFFFFF"/>
                </a:solidFill>
                <a:latin typeface="Cambria"/>
              </a:rPr>
              <a:t xml:space="preserve">Thank You</a:t>
            </a:r>
          </a:p>
          <a:p>
            <a:pPr algn="ctr">
              <a:lnSpc>
                <a:spcPct val="100000"/>
              </a:lnSpc>
              <a:spcAft>
                <a:spcPts val="450"/>
              </a:spcAft>
              <a:buNone/>
            </a:pPr>
            <a:r>
              <a:rPr lang="en-US" sz="2400" b="0" i="0" dirty="0">
                <a:solidFill>
                  <a:srgbClr val="94A3B8"/>
                </a:solidFill>
                <a:latin typeface="Calibri"/>
              </a:rPr>
              <a:t xml:space="preserve">Questions and Discussion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2200" b="1" i="0" dirty="0">
                <a:solidFill>
                  <a:srgbClr val="14B8A6"/>
                </a:solidFill>
                <a:latin typeface="Calibri"/>
              </a:rPr>
              <a:t xml:space="preserve">OpenVault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94A3B8"/>
                </a:solidFill>
                <a:latin typeface="Calibri"/>
              </a:rPr>
              <a:t xml:space="preserve">Secure AI Assistant for Company Documents</a:t>
            </a:r>
          </a:p>
        </p:txBody>
      </p:sp>
      <p:sp>
        <p:nvSpPr>
          <p:cNvPr id="1702" name="tb"/>
          <p:cNvSpPr>
            <a:spLocks noGrp="1"/>
          </p:cNvSpPr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64748B"/>
                </a:solidFill>
                <a:latin typeface="Calibri"/>
              </a:rPr>
              <a:t xml:space="preserve">University of South Asia | Department of Computer Science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penVault">
  <a:themeElements>
    <a:clrScheme name="OpenVault">
      <a:dk1>
        <a:srgbClr val="1E293B"/>
      </a:dk1>
      <a:lt1>
        <a:srgbClr val="FFFFFF"/>
      </a:lt1>
      <a:dk2>
        <a:srgbClr val="0F172A"/>
      </a:dk2>
      <a:lt2>
        <a:srgbClr val="F8FAFC"/>
      </a:lt2>
      <a:accent1>
        <a:srgbClr val="0F766E"/>
      </a:accent1>
      <a:accent2>
        <a:srgbClr val="14B8A6"/>
      </a:accent2>
      <a:accent3>
        <a:srgbClr val="CCFBF1"/>
      </a:accent3>
      <a:accent4>
        <a:srgbClr val="64748B"/>
      </a:accent4>
      <a:accent5>
        <a:srgbClr val="E2E8F0"/>
      </a:accent5>
      <a:accent6>
        <a:srgbClr val="F8FAFC"/>
      </a:accent6>
      <a:hlink>
        <a:srgbClr val="0F766E"/>
      </a:hlink>
      <a:folHlink>
        <a:srgbClr val="64748B"/>
      </a:folHlink>
    </a:clrScheme>
    <a:fontScheme name="OpenVault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penV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